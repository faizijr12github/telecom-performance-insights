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61" r:id="rId5"/>
    <p:sldId id="271" r:id="rId6"/>
    <p:sldId id="260" r:id="rId7"/>
    <p:sldId id="262" r:id="rId8"/>
    <p:sldId id="267" r:id="rId9"/>
    <p:sldId id="268" r:id="rId10"/>
    <p:sldId id="272" r:id="rId11"/>
    <p:sldId id="273" r:id="rId12"/>
    <p:sldId id="274" r:id="rId13"/>
    <p:sldId id="275" r:id="rId14"/>
    <p:sldId id="276" r:id="rId1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00D4C-3399-9485-A756-03EA09075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9B125-1D96-E728-73B9-2CB847375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A6E14-4FCC-E00E-5954-1288B57A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926B-EA2B-4CB7-9DF2-3E1CC2423BBC}" type="datetimeFigureOut">
              <a:rPr lang="en-PK" smtClean="0"/>
              <a:t>12/04/2026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5EC38-06A3-1CF9-4E5F-31070597D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5E5C4-1865-B869-159F-F8E03237E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D677-5473-47A7-B79E-49BAD38F72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6085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1803B-08BA-6ADC-92C0-DFF8585E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298AE-E334-853C-FD43-1A7F190CF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D1DEE-4954-41E7-F4DD-28819A788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926B-EA2B-4CB7-9DF2-3E1CC2423BBC}" type="datetimeFigureOut">
              <a:rPr lang="en-PK" smtClean="0"/>
              <a:t>12/04/2026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4A9E1-FC34-FA79-4153-160229E16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C1EEE-2111-9795-1C86-C7E06F9D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D677-5473-47A7-B79E-49BAD38F72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54419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C4285-7971-5250-582E-24D65042A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5CBF5-5511-ED99-921B-187549446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AD875-E452-3D45-F5E7-5C5C1723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926B-EA2B-4CB7-9DF2-3E1CC2423BBC}" type="datetimeFigureOut">
              <a:rPr lang="en-PK" smtClean="0"/>
              <a:t>12/04/2026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56B41-F3F1-EEAA-CC82-DBD33E242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5DE3D-7E73-3444-8476-57356E75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D677-5473-47A7-B79E-49BAD38F72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6360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1177-178E-346D-34CC-496A54194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CA11F-E4E8-C944-3965-6F7C951DC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219D3E-A703-F066-F6BF-49E7F79E0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3DB24-D5F7-4B6D-1F24-499D86B2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926B-EA2B-4CB7-9DF2-3E1CC2423BBC}" type="datetimeFigureOut">
              <a:rPr lang="en-PK" smtClean="0"/>
              <a:t>12/04/2026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7E849-C865-C88F-95F9-8FB3796FB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F3A75-11AD-8DF6-750B-7DF6FA6B8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D677-5473-47A7-B79E-49BAD38F72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99210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06E90-153A-4FF9-84BA-51E65ED54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4F579-5714-F686-9BA2-6EA02F5D7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C4A18-8D0C-C88E-A202-2A9426080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AA6B8-876A-F64F-75AE-A955C96D5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B491F-1842-135E-C921-26703E88C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19E64D-E83F-5B32-61C8-0EAC91603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926B-EA2B-4CB7-9DF2-3E1CC2423BBC}" type="datetimeFigureOut">
              <a:rPr lang="en-PK" smtClean="0"/>
              <a:t>12/04/2026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52B7A-1D9E-A144-A8F6-04658634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3FF6A8-264F-59C0-BF18-96A266C0C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D677-5473-47A7-B79E-49BAD38F72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79088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18A8B-C89B-47C6-FF12-18A473EEC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E28009-69A0-1CC3-43CF-C96B5F5B6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926B-EA2B-4CB7-9DF2-3E1CC2423BBC}" type="datetimeFigureOut">
              <a:rPr lang="en-PK" smtClean="0"/>
              <a:t>12/04/2026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0AD47-6329-E616-C258-AD0879E45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E048C2-3284-3EA2-A244-BE1FE9E07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D677-5473-47A7-B79E-49BAD38F72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32890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445404-82DC-449D-7B47-C323DABF4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926B-EA2B-4CB7-9DF2-3E1CC2423BBC}" type="datetimeFigureOut">
              <a:rPr lang="en-PK" smtClean="0"/>
              <a:t>12/04/2026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55E7E-A9A2-71C7-5C5B-18567CCA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0A854-3CD5-EB4A-6C66-9FED8959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D677-5473-47A7-B79E-49BAD38F72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88791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6586F-FB2E-CA8D-55E9-0B4DFA828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6612D-D80F-A3CB-F7CF-7B07EADBA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9443ED-7E42-A8E5-51CA-0998548EA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9F343-8275-AB25-EA7A-DB9A9028D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926B-EA2B-4CB7-9DF2-3E1CC2423BBC}" type="datetimeFigureOut">
              <a:rPr lang="en-PK" smtClean="0"/>
              <a:t>12/04/2026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B7D37-7A0E-EB81-9CFE-47A9A6069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3EE5A-BD42-7FD2-D319-5E54602A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D677-5473-47A7-B79E-49BAD38F72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3740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4734E-4B6F-86DB-518B-9397C8CCE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420BC8-9100-C3CB-E2EB-B4998792B9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140DC8-0BF1-7D18-D936-0E44EF927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B800D-0236-E8D7-6EE7-FD8E3EFD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926B-EA2B-4CB7-9DF2-3E1CC2423BBC}" type="datetimeFigureOut">
              <a:rPr lang="en-PK" smtClean="0"/>
              <a:t>12/04/2026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F1135-BC2A-1DA8-7D1F-1AB78E8AE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F0D3F-B669-F054-0403-514B79462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D677-5473-47A7-B79E-49BAD38F72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30932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CBAE9-F099-EB87-5217-D668C309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00FE8-31B3-2B68-B061-E5803884B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8E179-F236-8171-FC0F-A0D861500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926B-EA2B-4CB7-9DF2-3E1CC2423BBC}" type="datetimeFigureOut">
              <a:rPr lang="en-PK" smtClean="0"/>
              <a:t>12/04/2026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1BE47-40F4-78BF-ACC5-3D9B7742D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48E71-5068-786D-80E0-C9D3BA1E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D677-5473-47A7-B79E-49BAD38F72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34525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F833A8-D702-22F8-9DCB-11FB343AE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EF3F4-5EEC-31E1-A081-01738B170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72C55-55E9-AB6E-575E-0AA9768FF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926B-EA2B-4CB7-9DF2-3E1CC2423BBC}" type="datetimeFigureOut">
              <a:rPr lang="en-PK" smtClean="0"/>
              <a:t>12/04/2026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6400D-DEB2-5354-9823-04A550A1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B7DBD-BB15-D5FE-0781-70E90AE0F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D677-5473-47A7-B79E-49BAD38F72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1088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C6D755-D0A8-2093-9B6C-117CEB0DC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A01E1-0752-F770-7DF8-4706D0DCD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C6EFE-123D-E718-4C00-78FECE13B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93926B-EA2B-4CB7-9DF2-3E1CC2423BBC}" type="datetimeFigureOut">
              <a:rPr lang="en-PK" smtClean="0"/>
              <a:t>12/04/2026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734B-BCD7-6A32-1F01-314BFA57C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A737D-3887-FE2A-7552-8213B3AA1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BD677-5473-47A7-B79E-49BAD38F727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40110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BD3F-FF8F-4E9C-148C-A76E555D1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6568"/>
            <a:ext cx="9144000" cy="2387600"/>
          </a:xfrm>
        </p:spPr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Manrope"/>
              </a:rPr>
              <a:t>Telecom Domain Insights</a:t>
            </a:r>
            <a:endParaRPr lang="en-PK" dirty="0"/>
          </a:p>
        </p:txBody>
      </p:sp>
      <p:pic>
        <p:nvPicPr>
          <p:cNvPr id="7" name="Picture 6" descr="A logo of a letter a&#10;&#10;AI-generated content may be incorrect.">
            <a:extLst>
              <a:ext uri="{FF2B5EF4-FFF2-40B4-BE49-F238E27FC236}">
                <a16:creationId xmlns:a16="http://schemas.microsoft.com/office/drawing/2014/main" id="{65E66FD0-D245-3B0B-CCCB-B408563F1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904" y="667641"/>
            <a:ext cx="1876192" cy="187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39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F92F-69AE-ED68-31C3-325F9E03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Points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E6C8C-86AF-47CF-0095-AE6FB8CADE5D}"/>
              </a:ext>
            </a:extLst>
          </p:cNvPr>
          <p:cNvSpPr txBox="1"/>
          <p:nvPr/>
        </p:nvSpPr>
        <p:spPr>
          <a:xfrm>
            <a:off x="838200" y="1686391"/>
            <a:ext cx="10515600" cy="379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1. Decline in Performance After 5G Launch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After launching 5G services in May 2022, AtliQo observed a drop in active users and slower revenue growth, which raised concerns for management.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2. Need for Pre vs Post Analysis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 company wants a comparative analysis of key KPIs (before and after 5G launch) to understand performance changes.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3. Unclear Impact of 5G Plans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It is uncertain whether the new 5G plans positively or negatively impacted customer behavior, usage, and revenue.</a:t>
            </a:r>
          </a:p>
        </p:txBody>
      </p:sp>
    </p:spTree>
    <p:extLst>
      <p:ext uri="{BB962C8B-B14F-4D97-AF65-F5344CB8AC3E}">
        <p14:creationId xmlns:p14="http://schemas.microsoft.com/office/powerpoint/2010/main" val="316362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F92F-69AE-ED68-31C3-325F9E03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Went Wrong?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E6C8C-86AF-47CF-0095-AE6FB8CADE5D}"/>
              </a:ext>
            </a:extLst>
          </p:cNvPr>
          <p:cNvSpPr txBox="1"/>
          <p:nvPr/>
        </p:nvSpPr>
        <p:spPr>
          <a:xfrm>
            <a:off x="838200" y="1686391"/>
            <a:ext cx="10515600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Prices are too high for customers of 5G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5950B-5655-C341-CAB2-9E88551FD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50" y="2248974"/>
            <a:ext cx="9378177" cy="42439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29D8A9-4092-524C-BE15-648213CFE929}"/>
              </a:ext>
            </a:extLst>
          </p:cNvPr>
          <p:cNvSpPr/>
          <p:nvPr/>
        </p:nvSpPr>
        <p:spPr>
          <a:xfrm>
            <a:off x="5809785" y="2943922"/>
            <a:ext cx="669074" cy="35489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F82DC5-1721-0D16-BDBD-AED89ABADF58}"/>
              </a:ext>
            </a:extLst>
          </p:cNvPr>
          <p:cNvSpPr/>
          <p:nvPr/>
        </p:nvSpPr>
        <p:spPr>
          <a:xfrm>
            <a:off x="7738946" y="2943922"/>
            <a:ext cx="524108" cy="35489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07146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F92F-69AE-ED68-31C3-325F9E03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Went Wrong?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6664DF-D1F7-B1C3-FF3B-76981CB63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505" y="1668386"/>
            <a:ext cx="8372707" cy="392310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2D14ED8-DB70-3C95-B689-6AB627071D44}"/>
              </a:ext>
            </a:extLst>
          </p:cNvPr>
          <p:cNvCxnSpPr/>
          <p:nvPr/>
        </p:nvCxnSpPr>
        <p:spPr>
          <a:xfrm>
            <a:off x="1102109" y="3358376"/>
            <a:ext cx="5817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52BB2F-255A-EFEC-0945-A0911D54E826}"/>
              </a:ext>
            </a:extLst>
          </p:cNvPr>
          <p:cNvCxnSpPr/>
          <p:nvPr/>
        </p:nvCxnSpPr>
        <p:spPr>
          <a:xfrm>
            <a:off x="1079807" y="4780156"/>
            <a:ext cx="5817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0176A90-F120-1367-BC38-6DDA907E08DD}"/>
              </a:ext>
            </a:extLst>
          </p:cNvPr>
          <p:cNvSpPr txBox="1"/>
          <p:nvPr/>
        </p:nvSpPr>
        <p:spPr>
          <a:xfrm>
            <a:off x="6096000" y="1266513"/>
            <a:ext cx="3650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dirty="0"/>
              <a:t>Many users left after 5G launch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441DBA-B19C-49B4-C5E6-FABCC75F156F}"/>
              </a:ext>
            </a:extLst>
          </p:cNvPr>
          <p:cNvSpPr txBox="1"/>
          <p:nvPr/>
        </p:nvSpPr>
        <p:spPr>
          <a:xfrm>
            <a:off x="1102109" y="6017270"/>
            <a:ext cx="5399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Big cities like Delhi and Mumbai lost the most users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40665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F92F-69AE-ED68-31C3-325F9E03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Went Wrong?</a:t>
            </a:r>
            <a:endParaRPr lang="en-PK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2D14ED8-DB70-3C95-B689-6AB627071D44}"/>
              </a:ext>
            </a:extLst>
          </p:cNvPr>
          <p:cNvCxnSpPr>
            <a:cxnSpLocks/>
          </p:cNvCxnSpPr>
          <p:nvPr/>
        </p:nvCxnSpPr>
        <p:spPr>
          <a:xfrm flipV="1">
            <a:off x="9599337" y="5845355"/>
            <a:ext cx="0" cy="343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52BB2F-255A-EFEC-0945-A0911D54E826}"/>
              </a:ext>
            </a:extLst>
          </p:cNvPr>
          <p:cNvCxnSpPr>
            <a:cxnSpLocks/>
          </p:cNvCxnSpPr>
          <p:nvPr/>
        </p:nvCxnSpPr>
        <p:spPr>
          <a:xfrm flipV="1">
            <a:off x="7815144" y="5854390"/>
            <a:ext cx="0" cy="343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0441DBA-B19C-49B4-C5E6-FABCC75F156F}"/>
              </a:ext>
            </a:extLst>
          </p:cNvPr>
          <p:cNvSpPr txBox="1"/>
          <p:nvPr/>
        </p:nvSpPr>
        <p:spPr>
          <a:xfrm>
            <a:off x="221162" y="2393214"/>
            <a:ext cx="21205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Unsubscribed users increased by </a:t>
            </a:r>
            <a:r>
              <a:rPr lang="en-US" b="1" dirty="0"/>
              <a:t>13 Lakhs</a:t>
            </a:r>
            <a:r>
              <a:rPr lang="en-US" dirty="0"/>
              <a:t> post-5G. This is a clear signal of customer dissatisfaction with the new service or its cost.</a:t>
            </a: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95293A-58D6-1703-F052-80165A155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175" y="1586851"/>
            <a:ext cx="9091961" cy="413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38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F92F-69AE-ED68-31C3-325F9E03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Went Wrong?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E6C8C-86AF-47CF-0095-AE6FB8CADE5D}"/>
              </a:ext>
            </a:extLst>
          </p:cNvPr>
          <p:cNvSpPr txBox="1"/>
          <p:nvPr/>
        </p:nvSpPr>
        <p:spPr>
          <a:xfrm>
            <a:off x="838200" y="5511259"/>
            <a:ext cx="10515600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Revenue loss is mainly observed in Delhi, Chennai, and Ahmedabad.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E1C1A4-0B4A-4447-3B6F-DDC3A930D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036" y="1892132"/>
            <a:ext cx="10036098" cy="3319633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B83E9C-2AFA-8F8B-B9E4-C7677A29B727}"/>
              </a:ext>
            </a:extLst>
          </p:cNvPr>
          <p:cNvCxnSpPr/>
          <p:nvPr/>
        </p:nvCxnSpPr>
        <p:spPr>
          <a:xfrm>
            <a:off x="591012" y="2430966"/>
            <a:ext cx="6040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BAF7F1F-EC4E-27BB-F376-07D187749305}"/>
              </a:ext>
            </a:extLst>
          </p:cNvPr>
          <p:cNvCxnSpPr/>
          <p:nvPr/>
        </p:nvCxnSpPr>
        <p:spPr>
          <a:xfrm>
            <a:off x="591012" y="3330498"/>
            <a:ext cx="6040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4C50AA-C46B-B17E-E30D-6E91C2A78526}"/>
              </a:ext>
            </a:extLst>
          </p:cNvPr>
          <p:cNvCxnSpPr/>
          <p:nvPr/>
        </p:nvCxnSpPr>
        <p:spPr>
          <a:xfrm>
            <a:off x="554771" y="3873190"/>
            <a:ext cx="6040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086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F92F-69AE-ED68-31C3-325F9E03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Went Wrong?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E6C8C-86AF-47CF-0095-AE6FB8CADE5D}"/>
              </a:ext>
            </a:extLst>
          </p:cNvPr>
          <p:cNvSpPr txBox="1"/>
          <p:nvPr/>
        </p:nvSpPr>
        <p:spPr>
          <a:xfrm>
            <a:off x="579806" y="2590437"/>
            <a:ext cx="2975517" cy="1677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AtliQo’s market share dropped from a peak of nearly 21% in March to 17.84% by September.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Market share dropped by around 3%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EA2954-BA84-18D1-416A-7078B3C4F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436" y="1527906"/>
            <a:ext cx="7672758" cy="462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92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F92F-69AE-ED68-31C3-325F9E03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Insights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E6C8C-86AF-47CF-0095-AE6FB8CADE5D}"/>
              </a:ext>
            </a:extLst>
          </p:cNvPr>
          <p:cNvSpPr txBox="1"/>
          <p:nvPr/>
        </p:nvSpPr>
        <p:spPr>
          <a:xfrm>
            <a:off x="838200" y="2830296"/>
            <a:ext cx="4503234" cy="2000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/>
              <a:t>The </a:t>
            </a:r>
            <a:r>
              <a:rPr lang="en-US" sz="1400" b="1" dirty="0"/>
              <a:t>Smart Recharge Pack (P1)</a:t>
            </a:r>
            <a:r>
              <a:rPr lang="en-US" sz="1400" dirty="0"/>
              <a:t> is the top earner, bringing in </a:t>
            </a:r>
            <a:r>
              <a:rPr lang="en-US" sz="1400" b="1" dirty="0"/>
              <a:t>181.27₹</a:t>
            </a:r>
            <a:r>
              <a:rPr lang="en-US" sz="1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400" dirty="0"/>
              <a:t>Small daily and top-up packs (P8, P9, P10) contribute the least to total earnings.</a:t>
            </a:r>
          </a:p>
          <a:p>
            <a:pPr algn="just">
              <a:lnSpc>
                <a:spcPct val="150000"/>
              </a:lnSpc>
            </a:pPr>
            <a:r>
              <a:rPr lang="en-US" sz="1400" dirty="0"/>
              <a:t>Plans with </a:t>
            </a:r>
            <a:r>
              <a:rPr lang="en-US" sz="1400" b="1" dirty="0"/>
              <a:t>1GB to 2GB per day</a:t>
            </a:r>
            <a:r>
              <a:rPr lang="en-US" sz="1400" dirty="0"/>
              <a:t> are the most popular choices for customers.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098997-E93F-3588-4BD6-9AE251988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01202"/>
            <a:ext cx="5401429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75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F92F-69AE-ED68-31C3-325F9E03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Insights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E6C8C-86AF-47CF-0095-AE6FB8CADE5D}"/>
              </a:ext>
            </a:extLst>
          </p:cNvPr>
          <p:cNvSpPr txBox="1"/>
          <p:nvPr/>
        </p:nvSpPr>
        <p:spPr>
          <a:xfrm>
            <a:off x="838200" y="2384469"/>
            <a:ext cx="4503234" cy="2646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/>
              <a:t>The </a:t>
            </a:r>
            <a:r>
              <a:rPr lang="en-US" sz="1400" b="1" dirty="0"/>
              <a:t>Smart Recharge Pack (P1)</a:t>
            </a:r>
            <a:r>
              <a:rPr lang="en-US" sz="1400" dirty="0"/>
              <a:t> remains number one, with revenue jumping to </a:t>
            </a:r>
            <a:r>
              <a:rPr lang="en-US" sz="1400" b="1" dirty="0"/>
              <a:t>238.66₹</a:t>
            </a:r>
            <a:r>
              <a:rPr lang="en-US" sz="1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400" dirty="0"/>
              <a:t>The </a:t>
            </a:r>
            <a:r>
              <a:rPr lang="en-US" sz="1400" b="1" dirty="0"/>
              <a:t>Ultra Fast Mega Pack (P11)</a:t>
            </a:r>
            <a:r>
              <a:rPr lang="en-US" sz="1400" dirty="0"/>
              <a:t> is a strong new entry, immediately becoming the second-highest earner.</a:t>
            </a:r>
          </a:p>
          <a:p>
            <a:pPr algn="just">
              <a:lnSpc>
                <a:spcPct val="150000"/>
              </a:lnSpc>
            </a:pPr>
            <a:r>
              <a:rPr lang="en-US" sz="1400" dirty="0"/>
              <a:t>New high-data plans (</a:t>
            </a:r>
            <a:r>
              <a:rPr lang="en-US" sz="1400" b="1" dirty="0"/>
              <a:t>P11, P12</a:t>
            </a:r>
            <a:r>
              <a:rPr lang="en-US" sz="1400" dirty="0"/>
              <a:t>) are successfully replacing older, lower-value options.</a:t>
            </a:r>
          </a:p>
          <a:p>
            <a:pPr algn="just">
              <a:lnSpc>
                <a:spcPct val="150000"/>
              </a:lnSpc>
            </a:pPr>
            <a:r>
              <a:rPr lang="en-US" sz="1400" dirty="0"/>
              <a:t>Revenue from basic plans like the </a:t>
            </a:r>
            <a:r>
              <a:rPr lang="en-US" sz="1400" b="1" dirty="0"/>
              <a:t>Rs. 99 pack (P5)</a:t>
            </a:r>
            <a:r>
              <a:rPr lang="en-US" sz="1400" dirty="0"/>
              <a:t> fell sharply as users moved to 5G tiers.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662CE-26B4-511D-79B0-CC05936E9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59514"/>
            <a:ext cx="5487166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44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F92F-69AE-ED68-31C3-325F9E03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for Growth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E6C8C-86AF-47CF-0095-AE6FB8CADE5D}"/>
              </a:ext>
            </a:extLst>
          </p:cNvPr>
          <p:cNvSpPr txBox="1"/>
          <p:nvPr/>
        </p:nvSpPr>
        <p:spPr>
          <a:xfrm>
            <a:off x="637477" y="3222703"/>
            <a:ext cx="4503234" cy="1030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/>
              <a:t>Introduce mid-tier plans (between P1 and P11) to win back the millions of users who left for cheaper competitors.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662CE-26B4-511D-79B0-CC05936E9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768" y="1690688"/>
            <a:ext cx="5487166" cy="489653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FE974AC-4D50-98F4-0E34-EB3B1DAE9D43}"/>
              </a:ext>
            </a:extLst>
          </p:cNvPr>
          <p:cNvCxnSpPr/>
          <p:nvPr/>
        </p:nvCxnSpPr>
        <p:spPr>
          <a:xfrm>
            <a:off x="5728013" y="2631688"/>
            <a:ext cx="0" cy="6467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507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F92F-69AE-ED68-31C3-325F9E03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for Growth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E6C8C-86AF-47CF-0095-AE6FB8CADE5D}"/>
              </a:ext>
            </a:extLst>
          </p:cNvPr>
          <p:cNvSpPr txBox="1"/>
          <p:nvPr/>
        </p:nvSpPr>
        <p:spPr>
          <a:xfrm>
            <a:off x="704386" y="2918343"/>
            <a:ext cx="2194932" cy="232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/>
              <a:t>Pune was the only city to gain massive users (</a:t>
            </a:r>
            <a:r>
              <a:rPr lang="en-US" sz="1400" b="1" dirty="0"/>
              <a:t>+12L</a:t>
            </a:r>
            <a:r>
              <a:rPr lang="en-US" sz="1400" dirty="0"/>
              <a:t>). Investigate if Pune had special promotions or better network stability and replicate that model in Delhi and Mumbai.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ECDD46-B6D8-C24A-D009-C3A54FE36ABE}"/>
              </a:ext>
            </a:extLst>
          </p:cNvPr>
          <p:cNvGrpSpPr/>
          <p:nvPr/>
        </p:nvGrpSpPr>
        <p:grpSpPr>
          <a:xfrm>
            <a:off x="1801852" y="1693703"/>
            <a:ext cx="10006361" cy="634879"/>
            <a:chOff x="1841810" y="5785513"/>
            <a:chExt cx="10006361" cy="63487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E555E79-0419-0F63-ECEF-F5DA61358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41810" y="6207388"/>
              <a:ext cx="9511990" cy="21300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C0A66EF-630E-DA06-B3C7-B981744CF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41810" y="5785513"/>
              <a:ext cx="10006361" cy="232870"/>
            </a:xfrm>
            <a:prstGeom prst="rect">
              <a:avLst/>
            </a:prstGeom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DE2C4FE-9A82-895A-9FDA-0E6FBF9E8F7E}"/>
                </a:ext>
              </a:extLst>
            </p:cNvPr>
            <p:cNvCxnSpPr/>
            <p:nvPr/>
          </p:nvCxnSpPr>
          <p:spPr>
            <a:xfrm>
              <a:off x="7259444" y="6018383"/>
              <a:ext cx="735980" cy="2955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43DD4C0-506B-61BC-847A-10B8AB2ABA38}"/>
                </a:ext>
              </a:extLst>
            </p:cNvPr>
            <p:cNvCxnSpPr>
              <a:cxnSpLocks/>
            </p:cNvCxnSpPr>
            <p:nvPr/>
          </p:nvCxnSpPr>
          <p:spPr>
            <a:xfrm>
              <a:off x="9017620" y="6059634"/>
              <a:ext cx="536187" cy="25425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02C156D-AD7C-D33B-544E-4B641436F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576003" y="6003391"/>
              <a:ext cx="225813" cy="1582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9DD8CC39-5AE4-9EB7-73E5-4E2EA7E05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583" y="2762853"/>
            <a:ext cx="8197182" cy="341502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30B23A9-7410-14AD-67B3-EEA167AAFA57}"/>
              </a:ext>
            </a:extLst>
          </p:cNvPr>
          <p:cNvSpPr/>
          <p:nvPr/>
        </p:nvSpPr>
        <p:spPr>
          <a:xfrm>
            <a:off x="3682583" y="5553305"/>
            <a:ext cx="8197182" cy="1902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05596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F92F-69AE-ED68-31C3-325F9E03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for Growth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E6C8C-86AF-47CF-0095-AE6FB8CADE5D}"/>
              </a:ext>
            </a:extLst>
          </p:cNvPr>
          <p:cNvSpPr txBox="1"/>
          <p:nvPr/>
        </p:nvSpPr>
        <p:spPr>
          <a:xfrm>
            <a:off x="838200" y="2428854"/>
            <a:ext cx="3555380" cy="2000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Try to bring back users who left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Target the 13 lakh unsubscribed users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Offer discounts or special deals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Give cheaper 5G plans or device offers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Make it easy and attractive for them to    return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CFD10-E005-3A33-3375-5656E04DC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449" y="1597747"/>
            <a:ext cx="5349294" cy="456361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F707BB-4086-86FE-5927-98383AF72664}"/>
              </a:ext>
            </a:extLst>
          </p:cNvPr>
          <p:cNvCxnSpPr/>
          <p:nvPr/>
        </p:nvCxnSpPr>
        <p:spPr>
          <a:xfrm flipV="1">
            <a:off x="10482146" y="6161363"/>
            <a:ext cx="0" cy="518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5DA4183-61F8-DA86-A760-FEDCE6FF6EAD}"/>
              </a:ext>
            </a:extLst>
          </p:cNvPr>
          <p:cNvSpPr/>
          <p:nvPr/>
        </p:nvSpPr>
        <p:spPr>
          <a:xfrm>
            <a:off x="10047249" y="5631366"/>
            <a:ext cx="1159726" cy="5182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54420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F92F-69AE-ED68-31C3-325F9E03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for Growth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E6C8C-86AF-47CF-0095-AE6FB8CADE5D}"/>
              </a:ext>
            </a:extLst>
          </p:cNvPr>
          <p:cNvSpPr txBox="1"/>
          <p:nvPr/>
        </p:nvSpPr>
        <p:spPr>
          <a:xfrm>
            <a:off x="838200" y="2752020"/>
            <a:ext cx="4492083" cy="1353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/>
              <a:t>Delhi and Mumbai drive the most revenue value, offer loyalty rewards or bundled 5G services (like free streaming) to stop existing high-value users from switching to PIO.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DC5A2E-9423-BAA8-4A02-3AEEF09FC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88006"/>
            <a:ext cx="5430008" cy="458216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A70F5A9-AD92-DBD0-523A-33DBE981F519}"/>
              </a:ext>
            </a:extLst>
          </p:cNvPr>
          <p:cNvSpPr/>
          <p:nvPr/>
        </p:nvSpPr>
        <p:spPr>
          <a:xfrm>
            <a:off x="6096000" y="2297151"/>
            <a:ext cx="5445512" cy="8140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145A34-D933-3EEB-ECF5-6B209EA8089F}"/>
              </a:ext>
            </a:extLst>
          </p:cNvPr>
          <p:cNvSpPr/>
          <p:nvPr/>
        </p:nvSpPr>
        <p:spPr>
          <a:xfrm>
            <a:off x="8811004" y="2375208"/>
            <a:ext cx="836341" cy="6579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16204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F92F-69AE-ED68-31C3-325F9E03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Recommendation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E6C8C-86AF-47CF-0095-AE6FB8CADE5D}"/>
              </a:ext>
            </a:extLst>
          </p:cNvPr>
          <p:cNvSpPr txBox="1"/>
          <p:nvPr/>
        </p:nvSpPr>
        <p:spPr>
          <a:xfrm>
            <a:off x="838200" y="1690688"/>
            <a:ext cx="7859751" cy="1030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b="1" dirty="0"/>
              <a:t>Improve 4G/5G Bridge</a:t>
            </a:r>
          </a:p>
          <a:p>
            <a:pPr algn="just">
              <a:lnSpc>
                <a:spcPct val="150000"/>
              </a:lnSpc>
            </a:pPr>
            <a:r>
              <a:rPr lang="en-US" sz="1400" dirty="0"/>
              <a:t>Ensure users who don't have 5G phones yet aren't forced onto expensive plans. Keep strong 4G options available to maintain the total active user count.</a:t>
            </a:r>
          </a:p>
        </p:txBody>
      </p:sp>
    </p:spTree>
    <p:extLst>
      <p:ext uri="{BB962C8B-B14F-4D97-AF65-F5344CB8AC3E}">
        <p14:creationId xmlns:p14="http://schemas.microsoft.com/office/powerpoint/2010/main" val="2928444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7477</TotalTime>
  <Words>498</Words>
  <Application>Microsoft Office PowerPoint</Application>
  <PresentationFormat>Widescreen</PresentationFormat>
  <Paragraphs>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Manrope</vt:lpstr>
      <vt:lpstr>Office Theme</vt:lpstr>
      <vt:lpstr>Telecom Domain Insights</vt:lpstr>
      <vt:lpstr>Problem Statement Points</vt:lpstr>
      <vt:lpstr>What Went Wrong?</vt:lpstr>
      <vt:lpstr>What Went Wrong?</vt:lpstr>
      <vt:lpstr>What Went Wrong?</vt:lpstr>
      <vt:lpstr>What Went Wrong?</vt:lpstr>
      <vt:lpstr>What Went Wrong?</vt:lpstr>
      <vt:lpstr>Plan Insights</vt:lpstr>
      <vt:lpstr>Plan Insights</vt:lpstr>
      <vt:lpstr>Recommendations for Growth</vt:lpstr>
      <vt:lpstr>Recommendations for Growth</vt:lpstr>
      <vt:lpstr>Recommendations for Growth</vt:lpstr>
      <vt:lpstr>Recommendations for Growth</vt:lpstr>
      <vt:lpstr>Final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Faizan</dc:creator>
  <cp:lastModifiedBy>Muhammad Faizan</cp:lastModifiedBy>
  <cp:revision>27</cp:revision>
  <dcterms:created xsi:type="dcterms:W3CDTF">2026-04-07T13:32:33Z</dcterms:created>
  <dcterms:modified xsi:type="dcterms:W3CDTF">2026-04-13T06:53:44Z</dcterms:modified>
</cp:coreProperties>
</file>